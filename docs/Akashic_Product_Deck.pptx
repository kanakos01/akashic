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TRANSITION:fade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TRANSITION:morph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TRANSITION:morph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TRANSITION:fade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TRANSITION:morph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TRANSITION:fade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TRANSITION:morph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TRANSITION:fade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TRANSITION:morph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TRANSITION:fade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TRANSITION:morph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TRANSITION:fade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73152" cy="73152"/>
          </a:xfrm>
          <a:prstGeom prst="rect">
            <a:avLst/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03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AKASHIC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555480" y="2103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64736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LOCAL-FIRST KNOWLEDGE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12700">
            <a:solidFill>
              <a:srgbClr val="2430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60196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36C"/>
                </a:solidFill>
              </a:rPr>
              <a:t>akashic CLI  •  MVP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3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73152" cy="73152"/>
          </a:xfrm>
          <a:prstGeom prst="rect">
            <a:avLst/>
          </a:prstGeom>
          <a:solidFill>
            <a:srgbClr val="0E6B4D"/>
          </a:solidFill>
          <a:ln w="12700">
            <a:solidFill>
              <a:srgbClr val="0E6B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03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AKASHIC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12700">
            <a:solidFill>
              <a:srgbClr val="D7D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60196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817D"/>
                </a:solidFill>
              </a:rPr>
              <a:t>akashic CLI  •  MVP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1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3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909560" y="-1143000"/>
            <a:ext cx="4937760" cy="4937760"/>
          </a:xfrm>
          <a:prstGeom prst="arc">
            <a:avLst/>
          </a:prstGeom>
          <a:solidFill>
            <a:srgbClr val="0B0F0E">
              <a:alpha val="0"/>
            </a:srgbClr>
          </a:solidFill>
          <a:ln w="19050">
            <a:solidFill>
              <a:srgbClr val="89F5C4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320000">
            <a:off x="8641080" y="-411480"/>
            <a:ext cx="3474720" cy="3474720"/>
          </a:xfrm>
          <a:prstGeom prst="arc">
            <a:avLst/>
          </a:prstGeom>
          <a:solidFill>
            <a:srgbClr val="0B0F0E">
              <a:alpha val="0"/>
            </a:srgbClr>
          </a:solidFill>
          <a:ln w="15240">
            <a:solidFill>
              <a:srgbClr val="78DDEB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59436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63093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B0F0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PRODUCT NARRATIVE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Your systems,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29968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remembered.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2999232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9B7B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Akashic turns scattered repository context into a local, Git-backed knowledge layer that stays inspectable, portable, and yours.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35240" y="2880360"/>
            <a:ext cx="3840480" cy="2240280"/>
          </a:xfrm>
          <a:prstGeom prst="roundRect">
            <a:avLst>
              <a:gd name="adj" fmla="val 4898"/>
            </a:avLst>
          </a:prstGeom>
          <a:solidFill>
            <a:srgbClr val="0A0D0C"/>
          </a:solidFill>
          <a:ln w="12700">
            <a:solidFill>
              <a:srgbClr val="3341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99832" y="3035808"/>
            <a:ext cx="91440" cy="91440"/>
          </a:xfrm>
          <a:prstGeom prst="ellipse">
            <a:avLst/>
          </a:prstGeom>
          <a:solidFill>
            <a:srgbClr val="FF7D6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46136" y="3035808"/>
            <a:ext cx="91440" cy="91440"/>
          </a:xfrm>
          <a:prstGeom prst="ellipse">
            <a:avLst/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3035808"/>
            <a:ext cx="91440" cy="91440"/>
          </a:xfrm>
          <a:prstGeom prst="ellipse">
            <a:avLst/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5240" y="3291840"/>
            <a:ext cx="3840480" cy="0"/>
          </a:xfrm>
          <a:prstGeom prst="line">
            <a:avLst/>
          </a:prstGeom>
          <a:noFill/>
          <a:ln w="12700">
            <a:solidFill>
              <a:srgbClr val="27322D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7818120" y="344728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9F5C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19288" y="344728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8B1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akashic init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383133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9F5C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19288" y="383133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8B1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akashic attach ../billing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42153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9F5C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19288" y="4215384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8B1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akashic generate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459943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9F5C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19288" y="459943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BF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akashic serve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" y="61996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4736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MVP PRODUCT DECK  /  JULY 2026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 / THE FRACTURE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code is connected. The knowledge is not.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handoff begins with archaeology across people, wikis, repositories, and stale diagrams.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487168"/>
            <a:ext cx="5138928" cy="1170432"/>
          </a:xfrm>
          <a:prstGeom prst="roundRect">
            <a:avLst>
              <a:gd name="adj" fmla="val 9375"/>
            </a:avLst>
          </a:prstGeom>
          <a:solidFill>
            <a:srgbClr val="131B18"/>
          </a:solidFill>
          <a:ln w="12700">
            <a:solidFill>
              <a:srgbClr val="2B38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61488"/>
            <a:ext cx="109728" cy="621792"/>
          </a:xfrm>
          <a:prstGeom prst="rect">
            <a:avLst/>
          </a:prstGeom>
          <a:solidFill>
            <a:srgbClr val="FF7D6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25296" y="2706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FF7D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TRIBAL KNOWLEDGE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25296" y="3017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Lives in heads and disappears at the worst moment.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6208" y="2487168"/>
            <a:ext cx="5138928" cy="1170432"/>
          </a:xfrm>
          <a:prstGeom prst="roundRect">
            <a:avLst>
              <a:gd name="adj" fmla="val 9375"/>
            </a:avLst>
          </a:prstGeom>
          <a:solidFill>
            <a:srgbClr val="131B18"/>
          </a:solidFill>
          <a:ln w="12700">
            <a:solidFill>
              <a:srgbClr val="2B38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761488"/>
            <a:ext cx="109728" cy="621792"/>
          </a:xfrm>
          <a:prstGeom prst="rect">
            <a:avLst/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03136" y="2706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F2C6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STALE WIKIS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03136" y="3017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Drift quietly until nobody trusts the page.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977640"/>
            <a:ext cx="5138928" cy="1170432"/>
          </a:xfrm>
          <a:prstGeom prst="roundRect">
            <a:avLst>
              <a:gd name="adj" fmla="val 9375"/>
            </a:avLst>
          </a:prstGeom>
          <a:solidFill>
            <a:srgbClr val="131B18"/>
          </a:solidFill>
          <a:ln w="12700">
            <a:solidFill>
              <a:srgbClr val="2B38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251960"/>
            <a:ext cx="109728" cy="621792"/>
          </a:xfrm>
          <a:prstGeom prst="rect">
            <a:avLst/>
          </a:prstGeom>
          <a:solidFill>
            <a:srgbClr val="78DDEB"/>
          </a:solidFill>
          <a:ln w="12700">
            <a:solidFill>
              <a:srgbClr val="78DD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25296" y="4197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78DD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REPO SILOS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45079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Explain a service, never the system around 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6208" y="3977640"/>
            <a:ext cx="5138928" cy="1170432"/>
          </a:xfrm>
          <a:prstGeom prst="roundRect">
            <a:avLst>
              <a:gd name="adj" fmla="val 9375"/>
            </a:avLst>
          </a:prstGeom>
          <a:solidFill>
            <a:srgbClr val="14251F"/>
          </a:solidFill>
          <a:ln w="12700">
            <a:solidFill>
              <a:srgbClr val="3365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251960"/>
            <a:ext cx="109728" cy="621792"/>
          </a:xfrm>
          <a:prstGeom prst="rect">
            <a:avLst/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03136" y="4197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LOCKED INDEXES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803136" y="45079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Useful context, trapped behind someone else’s backend.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5961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D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Result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389888" y="5504688"/>
            <a:ext cx="9509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new engineer and every coding session starts from zero.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3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 / THE PROMISE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repository becomes the memory of the system.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Plain Markdown. Local execution. Git history. A familiar browser. No knowledge backend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468880"/>
            <a:ext cx="1645920" cy="1645920"/>
          </a:xfrm>
          <a:prstGeom prst="ellipse">
            <a:avLst/>
          </a:prstGeom>
          <a:solidFill>
            <a:srgbClr val="0E6B4D"/>
          </a:solidFill>
          <a:ln w="12700">
            <a:solidFill>
              <a:srgbClr val="0E6B4D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55648" y="28895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3708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40" kern="0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LOCAL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Runs entirely on your machine.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50792" y="2468880"/>
            <a:ext cx="1645920" cy="1645920"/>
          </a:xfrm>
          <a:prstGeom prst="ellipse">
            <a:avLst/>
          </a:prstGeom>
          <a:solidFill>
            <a:srgbClr val="177D79"/>
          </a:solidFill>
          <a:ln w="12700">
            <a:solidFill>
              <a:srgbClr val="177D7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8895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43708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40" kern="0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PORTABLE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Moves as ordinary Git.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12864" y="2468880"/>
            <a:ext cx="1645920" cy="1645920"/>
          </a:xfrm>
          <a:prstGeom prst="ellipse">
            <a:avLst/>
          </a:prstGeom>
          <a:solidFill>
            <a:srgbClr val="B85B49"/>
          </a:solidFill>
          <a:ln w="12700">
            <a:solidFill>
              <a:srgbClr val="B85B4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79792" y="28895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43708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40" kern="0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LEGIBLE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65392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Markdown for people and tools.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774936" y="2468880"/>
            <a:ext cx="1645920" cy="1645920"/>
          </a:xfrm>
          <a:prstGeom prst="ellipse">
            <a:avLst/>
          </a:prstGeom>
          <a:solidFill>
            <a:srgbClr val="8A6525"/>
          </a:solidFill>
          <a:ln w="12700">
            <a:solidFill>
              <a:srgbClr val="8A652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41864" y="28895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0E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44584" y="43708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40" kern="0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AUDITABLE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27464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change is reviewable.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" y="57424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product is not another source of truth.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574243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It gives your existing source of truth a durable memory.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1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 / THE LOOP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Four commands. One living knowledge base.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Akashic stays thin: scaffold, register, compose, validate, and serve.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89504" y="3255264"/>
            <a:ext cx="603504" cy="0"/>
          </a:xfrm>
          <a:prstGeom prst="line">
            <a:avLst/>
          </a:prstGeom>
          <a:noFill/>
          <a:ln w="25400">
            <a:solidFill>
              <a:srgbClr val="3D655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76656" y="2542032"/>
            <a:ext cx="1298448" cy="1298448"/>
          </a:xfrm>
          <a:prstGeom prst="ellipse">
            <a:avLst/>
          </a:prstGeom>
          <a:solidFill>
            <a:srgbClr val="1B2923"/>
          </a:solidFill>
          <a:ln w="15240">
            <a:solidFill>
              <a:srgbClr val="3B51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2416" y="29077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4096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30" kern="0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INIT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4489704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Create the knowledge repo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05856" y="3255264"/>
            <a:ext cx="603504" cy="0"/>
          </a:xfrm>
          <a:prstGeom prst="line">
            <a:avLst/>
          </a:prstGeom>
          <a:noFill/>
          <a:ln w="25400">
            <a:solidFill>
              <a:srgbClr val="3D655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93008" y="2542032"/>
            <a:ext cx="1298448" cy="1298448"/>
          </a:xfrm>
          <a:prstGeom prst="ellipse">
            <a:avLst/>
          </a:prstGeom>
          <a:solidFill>
            <a:srgbClr val="1B2923"/>
          </a:solidFill>
          <a:ln w="15240">
            <a:solidFill>
              <a:srgbClr val="3B51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58768" y="29077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4096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30" kern="0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ATTACH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4489704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Register source repos in place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22208" y="3255264"/>
            <a:ext cx="603504" cy="0"/>
          </a:xfrm>
          <a:prstGeom prst="line">
            <a:avLst/>
          </a:prstGeom>
          <a:noFill/>
          <a:ln w="25400">
            <a:solidFill>
              <a:srgbClr val="3D6555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309360" y="2542032"/>
            <a:ext cx="1298448" cy="1298448"/>
          </a:xfrm>
          <a:prstGeom prst="ellipse">
            <a:avLst/>
          </a:prstGeom>
          <a:solidFill>
            <a:srgbClr val="89F5C4"/>
          </a:solidFill>
          <a:ln w="15240">
            <a:solidFill>
              <a:srgbClr val="89F5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29077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0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096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3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4489704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Launch an interactive authoring session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25712" y="2542032"/>
            <a:ext cx="1298448" cy="1298448"/>
          </a:xfrm>
          <a:prstGeom prst="ellipse">
            <a:avLst/>
          </a:prstGeom>
          <a:solidFill>
            <a:srgbClr val="1B2923"/>
          </a:solidFill>
          <a:ln w="15240">
            <a:solidFill>
              <a:srgbClr val="3B51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91472" y="29077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25712" y="4096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30" kern="0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SERVE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25712" y="4489704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Browse, search, edit, and share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52544" y="5596128"/>
            <a:ext cx="1682496" cy="310896"/>
          </a:xfrm>
          <a:prstGeom prst="roundRect">
            <a:avLst>
              <a:gd name="adj" fmla="val 23529"/>
            </a:avLst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62272" y="56327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B0F0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USER APPROVES LIVE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236208" y="5559552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session remains visible and interactive. Git stays under the user’s control.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3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 / PRODUCT BOUNDARY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conductor, not another orchestra.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Akashic coordinates the tools developers already use and keeps the system intentionally replaceable.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395728"/>
            <a:ext cx="2834640" cy="3310128"/>
          </a:xfrm>
          <a:prstGeom prst="roundRect">
            <a:avLst>
              <a:gd name="adj" fmla="val 3871"/>
            </a:avLst>
          </a:prstGeom>
          <a:solidFill>
            <a:srgbClr val="122025"/>
          </a:solidFill>
          <a:ln w="12700">
            <a:solidFill>
              <a:srgbClr val="78DD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30" kern="0" dirty="0">
                <a:solidFill>
                  <a:srgbClr val="78DD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SOURCE REPOS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41648" y="2395728"/>
            <a:ext cx="4041648" cy="3310128"/>
          </a:xfrm>
          <a:prstGeom prst="roundRect">
            <a:avLst>
              <a:gd name="adj" fmla="val 3315"/>
            </a:avLst>
          </a:prstGeom>
          <a:solidFill>
            <a:srgbClr val="14271F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15968" y="267004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3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AKASHIC CLI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31936" y="2395728"/>
            <a:ext cx="2834640" cy="3310128"/>
          </a:xfrm>
          <a:prstGeom prst="roundRect">
            <a:avLst>
              <a:gd name="adj" fmla="val 3871"/>
            </a:avLst>
          </a:prstGeom>
          <a:solidFill>
            <a:srgbClr val="242017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06256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30" kern="0" dirty="0">
                <a:solidFill>
                  <a:srgbClr val="F2C6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KNOWLEDGE REPO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24128" y="3255264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18201D"/>
          </a:solidFill>
          <a:ln w="12700">
            <a:solidFill>
              <a:srgbClr val="3552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3374136"/>
            <a:ext cx="164592" cy="164592"/>
          </a:xfrm>
          <a:prstGeom prst="rect">
            <a:avLst/>
          </a:prstGeom>
          <a:solidFill>
            <a:srgbClr val="8A9A92"/>
          </a:solidFill>
          <a:ln w="12700">
            <a:solidFill>
              <a:srgbClr val="8A9A9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44752" y="3328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97280" y="3785616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18201D"/>
          </a:solidFill>
          <a:ln w="12700">
            <a:solidFill>
              <a:srgbClr val="3552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3904488"/>
            <a:ext cx="164592" cy="164592"/>
          </a:xfrm>
          <a:prstGeom prst="rect">
            <a:avLst/>
          </a:prstGeom>
          <a:solidFill>
            <a:srgbClr val="8A9A92"/>
          </a:solidFill>
          <a:ln w="12700">
            <a:solidFill>
              <a:srgbClr val="8A9A9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17904" y="3858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identity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70432" y="4315968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18372B"/>
          </a:solidFill>
          <a:ln w="12700">
            <a:solidFill>
              <a:srgbClr val="3552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16736" y="4434840"/>
            <a:ext cx="164592" cy="164592"/>
          </a:xfrm>
          <a:prstGeom prst="rect">
            <a:avLst/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91056" y="4389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web-app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70832" y="3310128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A2923"/>
          </a:solidFill>
          <a:ln w="12700">
            <a:solidFill>
              <a:srgbClr val="3652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80560" y="34198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DISCOVER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462272" y="36576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Find workspace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71616" y="3310128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A2923"/>
          </a:solidFill>
          <a:ln w="12700">
            <a:solidFill>
              <a:srgbClr val="3652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81344" y="34198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COMPOSE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163056" y="36576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Build prompt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70832" y="4315968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F4938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80560" y="44256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LAUNCH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462272" y="46634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Hand off TTY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71616" y="4315968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A2923"/>
          </a:solidFill>
          <a:ln w="12700">
            <a:solidFill>
              <a:srgbClr val="36524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81344" y="44256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VALIDATE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163056" y="46634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Inspect result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9034272" y="32186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DE8E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services/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034272" y="358444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E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flows/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034272" y="39502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E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system/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034272" y="431596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E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entities/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034272" y="46817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2C66D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adr/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034272" y="50474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2C66D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glossary/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11296" y="4069080"/>
            <a:ext cx="530352" cy="0"/>
          </a:xfrm>
          <a:prstGeom prst="line">
            <a:avLst/>
          </a:prstGeom>
          <a:noFill/>
          <a:ln w="25400">
            <a:solidFill>
              <a:srgbClr val="78DDEB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8083296" y="4069080"/>
            <a:ext cx="548640" cy="0"/>
          </a:xfrm>
          <a:prstGeom prst="line">
            <a:avLst/>
          </a:prstGeom>
          <a:noFill/>
          <a:ln w="25400">
            <a:solidFill>
              <a:srgbClr val="F2C66D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 txBox="1"/>
          <p:nvPr/>
        </p:nvSpPr>
        <p:spPr>
          <a:xfrm>
            <a:off x="3547872" y="37764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DD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8101584" y="37764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C6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write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3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 / CONFIGURATION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Portable by design. Personal where necessary.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Shared intent is committed. Machine-specific paths stay local and ignored.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395728"/>
            <a:ext cx="5212080" cy="309067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D2CE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706624"/>
            <a:ext cx="1133856" cy="310896"/>
          </a:xfrm>
          <a:prstGeom prst="roundRect">
            <a:avLst>
              <a:gd name="adj" fmla="val 23529"/>
            </a:avLst>
          </a:prstGeom>
          <a:solidFill>
            <a:srgbClr val="C8EFE0"/>
          </a:solidFill>
          <a:ln w="12700">
            <a:solidFill>
              <a:srgbClr val="C8EF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9848" y="27432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COMMITTED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00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21D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.akashic/config.yaml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87552" y="3822192"/>
            <a:ext cx="73152" cy="73152"/>
          </a:xfrm>
          <a:prstGeom prst="ellipse">
            <a:avLst/>
          </a:prstGeom>
          <a:solidFill>
            <a:srgbClr val="0E6B4D"/>
          </a:solidFill>
          <a:ln w="12700">
            <a:solidFill>
              <a:srgbClr val="0E6B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07008" y="373075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repository names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87552" y="4206240"/>
            <a:ext cx="73152" cy="73152"/>
          </a:xfrm>
          <a:prstGeom prst="ellipse">
            <a:avLst/>
          </a:prstGeom>
          <a:solidFill>
            <a:srgbClr val="0E6B4D"/>
          </a:solidFill>
          <a:ln w="12700">
            <a:solidFill>
              <a:srgbClr val="0E6B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07008" y="411480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provider choice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87552" y="4590288"/>
            <a:ext cx="73152" cy="73152"/>
          </a:xfrm>
          <a:prstGeom prst="ellipse">
            <a:avLst/>
          </a:prstGeom>
          <a:solidFill>
            <a:srgbClr val="0E6B4D"/>
          </a:solidFill>
          <a:ln w="12700">
            <a:solidFill>
              <a:srgbClr val="0E6B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07008" y="449884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site 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87552" y="4974336"/>
            <a:ext cx="73152" cy="73152"/>
          </a:xfrm>
          <a:prstGeom prst="ellipse">
            <a:avLst/>
          </a:prstGeom>
          <a:solidFill>
            <a:srgbClr val="0E6B4D"/>
          </a:solidFill>
          <a:ln w="12700">
            <a:solidFill>
              <a:srgbClr val="0E6B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07008" y="488289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generation hints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27648" y="2395728"/>
            <a:ext cx="5212080" cy="3090672"/>
          </a:xfrm>
          <a:prstGeom prst="roundRect">
            <a:avLst>
              <a:gd name="adj" fmla="val 3550"/>
            </a:avLst>
          </a:prstGeom>
          <a:solidFill>
            <a:srgbClr val="17221D"/>
          </a:solidFill>
          <a:ln w="12700">
            <a:solidFill>
              <a:srgbClr val="2B4C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2706624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F7D6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39128" y="2743200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B0F0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GITIGNORED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2004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BF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.akashic/config.local.yaml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56832" y="3822192"/>
            <a:ext cx="73152" cy="73152"/>
          </a:xfrm>
          <a:prstGeom prst="ellipse">
            <a:avLst/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76288" y="373075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absolute paths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56832" y="4206240"/>
            <a:ext cx="73152" cy="73152"/>
          </a:xfrm>
          <a:prstGeom prst="ellipse">
            <a:avLst/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76288" y="411480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per-machine mapping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56832" y="4590288"/>
            <a:ext cx="73152" cy="73152"/>
          </a:xfrm>
          <a:prstGeom prst="ellipse">
            <a:avLst/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76288" y="449884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safe teammate clones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56832" y="4974336"/>
            <a:ext cx="73152" cy="73152"/>
          </a:xfrm>
          <a:prstGeom prst="ellipse">
            <a:avLst/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76288" y="488289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path leakage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" y="580644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Same knowledge.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2779776" y="580644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Different machines.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217152" y="580644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5B4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Zero broken paths.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1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 / GENERATION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coding session becomes the documentation engine.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Akashic composes one complete brief, then lets the configured provider read, reason, and write in full view.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743200"/>
            <a:ext cx="1901952" cy="2048256"/>
          </a:xfrm>
          <a:prstGeom prst="roundRect">
            <a:avLst>
              <a:gd name="adj" fmla="val 3846"/>
            </a:avLst>
          </a:prstGeom>
          <a:solidFill>
            <a:srgbClr val="131B18"/>
          </a:solidFill>
          <a:ln w="12700">
            <a:solidFill>
              <a:srgbClr val="2B38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9260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02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CONTEXT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7705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Repos + paths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3749040"/>
            <a:ext cx="365760" cy="0"/>
          </a:xfrm>
          <a:prstGeom prst="line">
            <a:avLst/>
          </a:prstGeom>
          <a:noFill/>
          <a:ln w="19050">
            <a:solidFill>
              <a:srgbClr val="3E504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926080" y="2743200"/>
            <a:ext cx="1901952" cy="2048256"/>
          </a:xfrm>
          <a:prstGeom prst="roundRect">
            <a:avLst>
              <a:gd name="adj" fmla="val 3846"/>
            </a:avLst>
          </a:prstGeom>
          <a:solidFill>
            <a:srgbClr val="131B18"/>
          </a:solidFill>
          <a:ln w="12700">
            <a:solidFill>
              <a:srgbClr val="2B38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0672" y="29260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90672" y="3502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387705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Services, flows, system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28032" y="3749040"/>
            <a:ext cx="365760" cy="0"/>
          </a:xfrm>
          <a:prstGeom prst="line">
            <a:avLst/>
          </a:prstGeom>
          <a:noFill/>
          <a:ln w="19050">
            <a:solidFill>
              <a:srgbClr val="3E504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193792" y="2743200"/>
            <a:ext cx="1901952" cy="2048256"/>
          </a:xfrm>
          <a:prstGeom prst="roundRect">
            <a:avLst>
              <a:gd name="adj" fmla="val 3846"/>
            </a:avLst>
          </a:prstGeom>
          <a:solidFill>
            <a:srgbClr val="131B18"/>
          </a:solidFill>
          <a:ln w="12700">
            <a:solidFill>
              <a:srgbClr val="2B38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58384" y="29260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58384" y="3502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RULES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358384" y="387705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Layout + preservation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95744" y="3749040"/>
            <a:ext cx="365760" cy="0"/>
          </a:xfrm>
          <a:prstGeom prst="line">
            <a:avLst/>
          </a:prstGeom>
          <a:noFill/>
          <a:ln w="19050">
            <a:solidFill>
              <a:srgbClr val="3E504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461504" y="2743200"/>
            <a:ext cx="1901952" cy="2048256"/>
          </a:xfrm>
          <a:prstGeom prst="roundRect">
            <a:avLst>
              <a:gd name="adj" fmla="val 3846"/>
            </a:avLst>
          </a:prstGeom>
          <a:solidFill>
            <a:srgbClr val="173B2E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26096" y="29260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626096" y="3502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SESSION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626096" y="387705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Interactive provider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63456" y="3749040"/>
            <a:ext cx="365760" cy="0"/>
          </a:xfrm>
          <a:prstGeom prst="line">
            <a:avLst/>
          </a:prstGeom>
          <a:noFill/>
          <a:ln w="19050">
            <a:solidFill>
              <a:srgbClr val="89F5C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729216" y="2743200"/>
            <a:ext cx="1901952" cy="2048256"/>
          </a:xfrm>
          <a:prstGeom prst="roundRect">
            <a:avLst>
              <a:gd name="adj" fmla="val 3846"/>
            </a:avLst>
          </a:prstGeom>
          <a:solidFill>
            <a:srgbClr val="131B18"/>
          </a:solidFill>
          <a:ln w="12700">
            <a:solidFill>
              <a:srgbClr val="2B38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93808" y="29260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93808" y="3502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DIFF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893808" y="387705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Changed files summary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38528" y="5157216"/>
            <a:ext cx="8275320" cy="749808"/>
          </a:xfrm>
          <a:prstGeom prst="roundRect">
            <a:avLst>
              <a:gd name="adj" fmla="val 14634"/>
            </a:avLst>
          </a:prstGeom>
          <a:solidFill>
            <a:srgbClr val="0A0D0C"/>
          </a:solidFill>
          <a:ln w="12700">
            <a:solidFill>
              <a:srgbClr val="3341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03120" y="5312664"/>
            <a:ext cx="91440" cy="91440"/>
          </a:xfrm>
          <a:prstGeom prst="ellipse">
            <a:avLst/>
          </a:prstGeom>
          <a:solidFill>
            <a:srgbClr val="FF7D6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9424" y="5312664"/>
            <a:ext cx="91440" cy="91440"/>
          </a:xfrm>
          <a:prstGeom prst="ellipse">
            <a:avLst/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95728" y="5312664"/>
            <a:ext cx="91440" cy="91440"/>
          </a:xfrm>
          <a:prstGeom prst="ellipse">
            <a:avLst/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38528" y="5568696"/>
            <a:ext cx="8275320" cy="0"/>
          </a:xfrm>
          <a:prstGeom prst="line">
            <a:avLst/>
          </a:prstGeom>
          <a:noFill/>
          <a:ln w="12700">
            <a:solidFill>
              <a:srgbClr val="27322D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 txBox="1"/>
          <p:nvPr/>
        </p:nvSpPr>
        <p:spPr>
          <a:xfrm>
            <a:off x="2121408" y="572414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9F5C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›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322576" y="5724144"/>
            <a:ext cx="7708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BF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akashic generate   →   session exits cleanly   →   14 knowledge files changed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3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 / DOCUMENT CONTRACT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Generated structure. Protected human judgment.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file declares where it came from and reserves a durable space for manual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340864"/>
            <a:ext cx="6446520" cy="3438144"/>
          </a:xfrm>
          <a:prstGeom prst="roundRect">
            <a:avLst>
              <a:gd name="adj" fmla="val 3191"/>
            </a:avLst>
          </a:prstGeom>
          <a:solidFill>
            <a:srgbClr val="101714"/>
          </a:solidFill>
          <a:ln w="12700">
            <a:solidFill>
              <a:srgbClr val="314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6151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BF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service-payments.md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272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8DDE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generated: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139696" y="31272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9F5C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true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4564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8DDE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type: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139696" y="34564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E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service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7856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8DDE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name: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139696" y="37856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E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payments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1148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8DDE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sources: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139696" y="41148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E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[/repos/payments]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4439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8DDE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updated_at: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139696" y="44439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E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2026-07-14T...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7731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8DDE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generator: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139696" y="4773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E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akashic@0.1.0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61504" y="2340864"/>
            <a:ext cx="4069080" cy="1536192"/>
          </a:xfrm>
          <a:prstGeom prst="roundRect">
            <a:avLst>
              <a:gd name="adj" fmla="val 7143"/>
            </a:avLst>
          </a:prstGeom>
          <a:solidFill>
            <a:srgbClr val="17251F"/>
          </a:solidFill>
          <a:ln w="12700">
            <a:solidFill>
              <a:srgbClr val="3B675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54112" y="2642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GENERATED BODY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54112" y="3017520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Refreshable system facts, diagrams, interfaces, and flows.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61504" y="4224528"/>
            <a:ext cx="4069080" cy="1554480"/>
          </a:xfrm>
          <a:prstGeom prst="roundRect">
            <a:avLst>
              <a:gd name="adj" fmla="val 7059"/>
            </a:avLst>
          </a:prstGeom>
          <a:solidFill>
            <a:srgbClr val="251B18"/>
          </a:solidFill>
          <a:ln w="12700">
            <a:solidFill>
              <a:srgbClr val="6B42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54112" y="4526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FF7D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HUMAN START  ↔  HUMAN END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54112" y="4901184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Protected notes, decisions, caveats, and team memory.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3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 / TRUST MODEL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product earns trust by leaving control visible.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Akashic makes safety a workflow property, not a promise hidden in a backend.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" y="2359152"/>
            <a:ext cx="1084478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359152"/>
            <a:ext cx="91440" cy="658368"/>
          </a:xfrm>
          <a:prstGeom prst="rect">
            <a:avLst/>
          </a:prstGeom>
          <a:solidFill>
            <a:srgbClr val="78DDEB"/>
          </a:solidFill>
          <a:ln w="12700">
            <a:solidFill>
              <a:srgbClr val="78DD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7552" y="2523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SOURCE CODE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2514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Registered in place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559552" y="2514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Never moved or rewritten by Akashic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" y="3218688"/>
            <a:ext cx="10844784" cy="658368"/>
          </a:xfrm>
          <a:prstGeom prst="roundRect">
            <a:avLst>
              <a:gd name="adj" fmla="val 6944"/>
            </a:avLst>
          </a:prstGeom>
          <a:solidFill>
            <a:srgbClr val="EAE7D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3218688"/>
            <a:ext cx="91440" cy="658368"/>
          </a:xfrm>
          <a:prstGeom prst="rect">
            <a:avLst/>
          </a:prstGeom>
          <a:solidFill>
            <a:srgbClr val="0E6B4D"/>
          </a:solidFill>
          <a:ln w="12700">
            <a:solidFill>
              <a:srgbClr val="0E6B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862072" y="33741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Interactive TTY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559552" y="33741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Permissions approved live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" y="4078224"/>
            <a:ext cx="1084478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4078224"/>
            <a:ext cx="91440" cy="658368"/>
          </a:xfrm>
          <a:prstGeom prst="rect">
            <a:avLst/>
          </a:prstGeom>
          <a:solidFill>
            <a:srgbClr val="FF7D6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4242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862072" y="4233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staging or commits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559552" y="42336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user owns every diff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" y="4937760"/>
            <a:ext cx="10844784" cy="658368"/>
          </a:xfrm>
          <a:prstGeom prst="roundRect">
            <a:avLst>
              <a:gd name="adj" fmla="val 6944"/>
            </a:avLst>
          </a:prstGeom>
          <a:solidFill>
            <a:srgbClr val="EAE7D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4937760"/>
            <a:ext cx="91440" cy="658368"/>
          </a:xfrm>
          <a:prstGeom prst="rect">
            <a:avLst/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552" y="5102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862072" y="5093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Plain files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559552" y="5093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Inspectable with any editor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" y="592531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7D6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596188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B0F0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KNOWN LIMITATION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2322576" y="587959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Source-repo write protection is prompt-enforced in v1. Generate against clean, committed trees.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1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 / REPLACEABLE SEAMS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Built for today. Deliberately swappable tomorrow.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Interfaces isolate the places most likely to evolve without forcing a rewrite of the CLI core.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063240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131B18"/>
          </a:solidFill>
          <a:ln w="12700">
            <a:solidFill>
              <a:srgbClr val="78DD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327355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78DD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3063240"/>
            <a:ext cx="2011680" cy="896112"/>
          </a:xfrm>
          <a:prstGeom prst="roundRect">
            <a:avLst>
              <a:gd name="adj" fmla="val 6122"/>
            </a:avLst>
          </a:prstGeom>
          <a:solidFill>
            <a:srgbClr val="17382B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98648" y="3273552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ENGINE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9240" y="2423160"/>
            <a:ext cx="1965960" cy="896112"/>
          </a:xfrm>
          <a:prstGeom prst="roundRect">
            <a:avLst>
              <a:gd name="adj" fmla="val 6122"/>
            </a:avLst>
          </a:prstGeom>
          <a:solidFill>
            <a:srgbClr val="131B1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58968" y="263347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7D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80" kern="0" dirty="0">
                <a:solidFill>
                  <a:srgbClr val="FF7D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PROVIDER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3767328"/>
            <a:ext cx="1965960" cy="896112"/>
          </a:xfrm>
          <a:prstGeom prst="roundRect">
            <a:avLst>
              <a:gd name="adj" fmla="val 6122"/>
            </a:avLst>
          </a:prstGeom>
          <a:solidFill>
            <a:srgbClr val="131B18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58968" y="39776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2C6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80" kern="0" dirty="0">
                <a:solidFill>
                  <a:srgbClr val="F2C6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PROVIDER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09560" y="2423160"/>
            <a:ext cx="3383280" cy="896112"/>
          </a:xfrm>
          <a:prstGeom prst="roundRect">
            <a:avLst>
              <a:gd name="adj" fmla="val 6122"/>
            </a:avLst>
          </a:prstGeom>
          <a:solidFill>
            <a:srgbClr val="131B1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19288" y="263347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F7D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INTERACTIVE PROVIDERS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09560" y="3767328"/>
            <a:ext cx="3383280" cy="896112"/>
          </a:xfrm>
          <a:prstGeom prst="roundRect">
            <a:avLst>
              <a:gd name="adj" fmla="val 6122"/>
            </a:avLst>
          </a:prstGeom>
          <a:solidFill>
            <a:srgbClr val="131B18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19288" y="397764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F2C6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VITE / FUTURE UI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40280" y="3511296"/>
            <a:ext cx="548640" cy="0"/>
          </a:xfrm>
          <a:prstGeom prst="line">
            <a:avLst/>
          </a:prstGeom>
          <a:noFill/>
          <a:ln w="25400">
            <a:solidFill>
              <a:srgbClr val="43635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800600" y="3511296"/>
            <a:ext cx="548640" cy="-640080"/>
          </a:xfrm>
          <a:prstGeom prst="line">
            <a:avLst/>
          </a:prstGeom>
          <a:noFill/>
          <a:ln w="25400">
            <a:solidFill>
              <a:srgbClr val="43635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800600" y="3511296"/>
            <a:ext cx="548640" cy="713232"/>
          </a:xfrm>
          <a:prstGeom prst="line">
            <a:avLst/>
          </a:prstGeom>
          <a:noFill/>
          <a:ln w="25400">
            <a:solidFill>
              <a:srgbClr val="43635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315200" y="2871216"/>
            <a:ext cx="594360" cy="0"/>
          </a:xfrm>
          <a:prstGeom prst="line">
            <a:avLst/>
          </a:prstGeom>
          <a:noFill/>
          <a:ln w="25400">
            <a:solidFill>
              <a:srgbClr val="65413A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315200" y="4215384"/>
            <a:ext cx="594360" cy="0"/>
          </a:xfrm>
          <a:prstGeom prst="line">
            <a:avLst/>
          </a:prstGeom>
          <a:noFill/>
          <a:ln w="25400">
            <a:solidFill>
              <a:srgbClr val="68562F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694944" y="54315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Thin entrypoints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807208" y="5431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Stable domain core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358384" y="5431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Replace behind contracts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805672" y="54315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Evolve independently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3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 / EXPERIENCE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Knowledge should feel navigable, not merely stored.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local site turns structured Markdown into a fast visual layer for discovery, reading, and editing.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258568"/>
            <a:ext cx="10881360" cy="3529584"/>
          </a:xfrm>
          <a:prstGeom prst="roundRect">
            <a:avLst>
              <a:gd name="adj" fmla="val 2591"/>
            </a:avLst>
          </a:prstGeom>
          <a:solidFill>
            <a:srgbClr val="101614"/>
          </a:solidFill>
          <a:ln w="12700">
            <a:solidFill>
              <a:srgbClr val="3846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743200"/>
            <a:ext cx="10881360" cy="0"/>
          </a:xfrm>
          <a:prstGeom prst="line">
            <a:avLst/>
          </a:prstGeom>
          <a:noFill/>
          <a:ln w="12700">
            <a:solidFill>
              <a:srgbClr val="2B383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96112" y="2450592"/>
            <a:ext cx="91440" cy="91440"/>
          </a:xfrm>
          <a:prstGeom prst="ellipse">
            <a:avLst/>
          </a:prstGeom>
          <a:solidFill>
            <a:srgbClr val="FF7D6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" y="2450592"/>
            <a:ext cx="91440" cy="91440"/>
          </a:xfrm>
          <a:prstGeom prst="ellipse">
            <a:avLst/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2450592"/>
            <a:ext cx="91440" cy="91440"/>
          </a:xfrm>
          <a:prstGeom prst="ellipse">
            <a:avLst/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0288" y="23865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9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localhost:4173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743200"/>
            <a:ext cx="2395728" cy="3044952"/>
          </a:xfrm>
          <a:prstGeom prst="rect">
            <a:avLst/>
          </a:prstGeom>
          <a:solidFill>
            <a:srgbClr val="151D1A"/>
          </a:solidFill>
          <a:ln w="12700">
            <a:solidFill>
              <a:srgbClr val="2B38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01752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SEARCH KNOWLEDGE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96112" y="333756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0E1412"/>
          </a:solidFill>
          <a:ln w="12700">
            <a:solidFill>
              <a:srgbClr val="3444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34290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DE8E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⌕  payments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9502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SYSTEM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206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SERVICES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4622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 payments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7183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 identity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49743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FLOWS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52303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ENTITIES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5486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ADRS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456432" y="312724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Payments Service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738360" y="3218688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48088" y="3255264"/>
            <a:ext cx="832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B0F0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GENERATED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76732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Owns payment intent creation, confirmation, and ledger handoff.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0" y="4370832"/>
            <a:ext cx="2057400" cy="859536"/>
          </a:xfrm>
          <a:prstGeom prst="roundRect">
            <a:avLst>
              <a:gd name="adj" fmla="val 5319"/>
            </a:avLst>
          </a:prstGeom>
          <a:solidFill>
            <a:srgbClr val="172A22"/>
          </a:solidFill>
          <a:ln w="12700">
            <a:solidFill>
              <a:srgbClr val="35584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94176" y="45354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242816" y="45994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endpoints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42432" y="4370832"/>
            <a:ext cx="2057400" cy="859536"/>
          </a:xfrm>
          <a:prstGeom prst="roundRect">
            <a:avLst>
              <a:gd name="adj" fmla="val 5319"/>
            </a:avLst>
          </a:prstGeom>
          <a:solidFill>
            <a:srgbClr val="17252A"/>
          </a:solidFill>
          <a:ln w="12700">
            <a:solidFill>
              <a:srgbClr val="3654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61888" y="45354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DD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510528" y="45994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flows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10144" y="4370832"/>
            <a:ext cx="2057400" cy="859536"/>
          </a:xfrm>
          <a:prstGeom prst="roundRect">
            <a:avLst>
              <a:gd name="adj" fmla="val 5319"/>
            </a:avLst>
          </a:prstGeom>
          <a:solidFill>
            <a:srgbClr val="292018"/>
          </a:solidFill>
          <a:ln w="12700">
            <a:solidFill>
              <a:srgbClr val="5F4B2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0" y="45354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C6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778240" y="45994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3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 / MVP CONTRACT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Sharp scope is a feature.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first release proves the knowledge loop without pretending to solve every adjacent problem.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94944" y="232257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40" kern="0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23225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40" kern="0" dirty="0">
                <a:solidFill>
                  <a:srgbClr val="B85B4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NOT YET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71032" y="2267712"/>
            <a:ext cx="0" cy="3438144"/>
          </a:xfrm>
          <a:prstGeom prst="line">
            <a:avLst/>
          </a:prstGeom>
          <a:noFill/>
          <a:ln w="12700">
            <a:solidFill>
              <a:srgbClr val="C9C4B8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713232" y="2889504"/>
            <a:ext cx="91440" cy="91440"/>
          </a:xfrm>
          <a:prstGeom prst="ellipse">
            <a:avLst/>
          </a:prstGeom>
          <a:solidFill>
            <a:srgbClr val="0E6B4D"/>
          </a:solidFill>
          <a:ln w="12700">
            <a:solidFill>
              <a:srgbClr val="0E6B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2788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413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Init, attach, detach, list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3346704"/>
            <a:ext cx="91440" cy="91440"/>
          </a:xfrm>
          <a:prstGeom prst="ellipse">
            <a:avLst/>
          </a:prstGeom>
          <a:solidFill>
            <a:srgbClr val="0E6B4D"/>
          </a:solidFill>
          <a:ln w="12700">
            <a:solidFill>
              <a:srgbClr val="0E6B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32461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413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Interactive generation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" y="3803904"/>
            <a:ext cx="91440" cy="91440"/>
          </a:xfrm>
          <a:prstGeom prst="ellipse">
            <a:avLst/>
          </a:prstGeom>
          <a:solidFill>
            <a:srgbClr val="0E6B4D"/>
          </a:solidFill>
          <a:ln w="12700">
            <a:solidFill>
              <a:srgbClr val="0E6B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7552" y="3703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5413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provider adapters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" y="4261104"/>
            <a:ext cx="91440" cy="91440"/>
          </a:xfrm>
          <a:prstGeom prst="ellipse">
            <a:avLst/>
          </a:prstGeom>
          <a:solidFill>
            <a:srgbClr val="0E6B4D"/>
          </a:solidFill>
          <a:ln w="12700">
            <a:solidFill>
              <a:srgbClr val="0E6B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4160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5413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Structured docs + human sections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" y="4718304"/>
            <a:ext cx="91440" cy="91440"/>
          </a:xfrm>
          <a:prstGeom prst="ellipse">
            <a:avLst/>
          </a:prstGeom>
          <a:solidFill>
            <a:srgbClr val="0E6B4D"/>
          </a:solidFill>
          <a:ln w="12700">
            <a:solidFill>
              <a:srgbClr val="0E6B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46177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5413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Local site + static build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" y="5175504"/>
            <a:ext cx="91440" cy="91440"/>
          </a:xfrm>
          <a:prstGeom prst="ellipse">
            <a:avLst/>
          </a:prstGeom>
          <a:solidFill>
            <a:srgbClr val="0E6B4D"/>
          </a:solidFill>
          <a:ln w="12700">
            <a:solidFill>
              <a:srgbClr val="0E6B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7552" y="5074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5413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Doctor and status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91072" y="2889504"/>
            <a:ext cx="91440" cy="91440"/>
          </a:xfrm>
          <a:prstGeom prst="ellipse">
            <a:avLst/>
          </a:prstGeom>
          <a:solidFill>
            <a:srgbClr val="FF7D6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65392" y="2788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Cloud backend or auth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91072" y="3346704"/>
            <a:ext cx="91440" cy="91440"/>
          </a:xfrm>
          <a:prstGeom prst="ellipse">
            <a:avLst/>
          </a:prstGeom>
          <a:solidFill>
            <a:srgbClr val="FF7D6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65392" y="32461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Headless scheduling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91072" y="3803904"/>
            <a:ext cx="91440" cy="91440"/>
          </a:xfrm>
          <a:prstGeom prst="ellipse">
            <a:avLst/>
          </a:prstGeom>
          <a:solidFill>
            <a:srgbClr val="FF7D6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65392" y="3703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Deterministic orchestration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91072" y="4261104"/>
            <a:ext cx="91440" cy="91440"/>
          </a:xfrm>
          <a:prstGeom prst="ellipse">
            <a:avLst/>
          </a:prstGeom>
          <a:solidFill>
            <a:srgbClr val="FF7D6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65392" y="4160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Automatic merge engine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91072" y="4718304"/>
            <a:ext cx="91440" cy="91440"/>
          </a:xfrm>
          <a:prstGeom prst="ellipse">
            <a:avLst/>
          </a:prstGeom>
          <a:solidFill>
            <a:srgbClr val="FF7D6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65392" y="46177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In-browser Git workflows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91072" y="5175504"/>
            <a:ext cx="91440" cy="91440"/>
          </a:xfrm>
          <a:prstGeom prst="ellipse">
            <a:avLst/>
          </a:prstGeom>
          <a:solidFill>
            <a:srgbClr val="FF7D6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65392" y="5074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Knowledge graph or vector DB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879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Prove the loop: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340864" y="58795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source → understanding → Git → browser → better work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1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/ VALIDATION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Test the behavior users can actually observe.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provider boundary keeps the slow, unpredictable session out of deterministic product tests.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8083296" cy="365760"/>
          </a:xfrm>
          <a:prstGeom prst="roundRect">
            <a:avLst>
              <a:gd name="adj" fmla="val 10000"/>
            </a:avLst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441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B0F0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938528" y="2441448"/>
            <a:ext cx="6665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0F0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Init, attach, generate, doctor, status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907792"/>
            <a:ext cx="6847027" cy="365760"/>
          </a:xfrm>
          <a:prstGeom prst="roundRect">
            <a:avLst>
              <a:gd name="adj" fmla="val 10000"/>
            </a:avLst>
          </a:prstGeom>
          <a:solidFill>
            <a:srgbClr val="78DDEB"/>
          </a:solidFill>
          <a:ln w="12700">
            <a:solidFill>
              <a:srgbClr val="78DD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29718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B0F0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PROVIDER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938528" y="2971800"/>
            <a:ext cx="54297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0F0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Availability, version, invocation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3438144"/>
            <a:ext cx="5896051" cy="365760"/>
          </a:xfrm>
          <a:prstGeom prst="roundRect">
            <a:avLst>
              <a:gd name="adj" fmla="val 10000"/>
            </a:avLst>
          </a:prstGeom>
          <a:solidFill>
            <a:srgbClr val="25362F"/>
          </a:solidFill>
          <a:ln w="12700">
            <a:solidFill>
              <a:srgbClr val="3D52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35021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PROMPT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3502152"/>
            <a:ext cx="44787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Composition and overrides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3968496"/>
            <a:ext cx="4945075" cy="365760"/>
          </a:xfrm>
          <a:prstGeom prst="roundRect">
            <a:avLst>
              <a:gd name="adj" fmla="val 10000"/>
            </a:avLst>
          </a:prstGeom>
          <a:solidFill>
            <a:srgbClr val="25362F"/>
          </a:solidFill>
          <a:ln w="12700">
            <a:solidFill>
              <a:srgbClr val="3D524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" y="403250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CONFIG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938528" y="4032504"/>
            <a:ext cx="35277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Merge and validation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4498848"/>
            <a:ext cx="3994099" cy="365760"/>
          </a:xfrm>
          <a:prstGeom prst="roundRect">
            <a:avLst>
              <a:gd name="adj" fmla="val 10000"/>
            </a:avLst>
          </a:prstGeom>
          <a:solidFill>
            <a:srgbClr val="25362F"/>
          </a:solidFill>
          <a:ln w="12700">
            <a:solidFill>
              <a:srgbClr val="3D524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" y="45628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938528" y="4562856"/>
            <a:ext cx="25767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Observable repository state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5029200"/>
            <a:ext cx="3233318" cy="365760"/>
          </a:xfrm>
          <a:prstGeom prst="roundRect">
            <a:avLst>
              <a:gd name="adj" fmla="val 10000"/>
            </a:avLst>
          </a:prstGeom>
          <a:solidFill>
            <a:srgbClr val="25362F"/>
          </a:solidFill>
          <a:ln w="12700">
            <a:solidFill>
              <a:srgbClr val="3D524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" y="509320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SITE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938528" y="5093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Static build contract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235440" y="2377440"/>
            <a:ext cx="1965960" cy="2999232"/>
          </a:xfrm>
          <a:prstGeom prst="roundRect">
            <a:avLst>
              <a:gd name="adj" fmla="val 3721"/>
            </a:avLst>
          </a:prstGeom>
          <a:solidFill>
            <a:srgbClr val="151D1A"/>
          </a:solidFill>
          <a:ln w="12700">
            <a:solidFill>
              <a:srgbClr val="3A4B4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28048" y="269748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spc="10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PROVIDER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573768" y="3593592"/>
            <a:ext cx="1298448" cy="0"/>
          </a:xfrm>
          <a:prstGeom prst="line">
            <a:avLst/>
          </a:prstGeom>
          <a:noFill/>
          <a:ln w="12700">
            <a:solidFill>
              <a:srgbClr val="3D5148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 txBox="1"/>
          <p:nvPr/>
        </p:nvSpPr>
        <p:spPr>
          <a:xfrm>
            <a:off x="9491472" y="384048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Records context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491472" y="422452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Writes fixtures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491472" y="4608576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Keeps CI fast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3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 / HONEST RISKS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risky edges are explicit, not buried.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accepted limitation has a visible mitigation and a clear path forward.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94944" y="2487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7D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WRITE SCOPE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993392" y="24414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Provider can technically reach source repos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22976" y="244144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C6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Clean trees + live approval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47888" y="2441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Future sandbox scoping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" y="3044952"/>
            <a:ext cx="10515600" cy="0"/>
          </a:xfrm>
          <a:prstGeom prst="line">
            <a:avLst/>
          </a:prstGeom>
          <a:noFill/>
          <a:ln w="12700">
            <a:solidFill>
              <a:srgbClr val="28352F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694944" y="3319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7D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INFERRED DOCS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993392" y="32735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ADRs and glossary may be weakly grounded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522976" y="327355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C6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Review before commit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32735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Grounded/inferred labels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3877056"/>
            <a:ext cx="10515600" cy="0"/>
          </a:xfrm>
          <a:prstGeom prst="line">
            <a:avLst/>
          </a:prstGeom>
          <a:noFill/>
          <a:ln w="12700">
            <a:solidFill>
              <a:srgbClr val="28352F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694944" y="4151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7D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PARALLELISM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993392" y="41056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session owns fan-out in v1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522976" y="410565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C6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Prompt-level guidance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41056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Deterministic runner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" y="4709160"/>
            <a:ext cx="10515600" cy="0"/>
          </a:xfrm>
          <a:prstGeom prst="line">
            <a:avLst/>
          </a:prstGeom>
          <a:noFill/>
          <a:ln w="12700">
            <a:solidFill>
              <a:srgbClr val="28352F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 txBox="1"/>
          <p:nvPr/>
        </p:nvSpPr>
        <p:spPr>
          <a:xfrm>
            <a:off x="694944" y="4983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PORTABILITY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993392" y="4937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DE8E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Local paths differ by machine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522976" y="493776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C6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Split configuration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47888" y="49377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Already solved in MVP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" y="5541264"/>
            <a:ext cx="10515600" cy="0"/>
          </a:xfrm>
          <a:prstGeom prst="line">
            <a:avLst/>
          </a:prstGeom>
          <a:noFill/>
          <a:ln w="12700">
            <a:solidFill>
              <a:srgbClr val="28352F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694944" y="5843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522976" y="5843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8247888" y="58430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NEXT HARDENING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3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 / DEFINITION OF DONE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MVP succeeds when context survives the handoff.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working loop is more valuable than a long feature list.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" y="2359152"/>
            <a:ext cx="340156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54203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17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5237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INIT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88950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knowledge repository exists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359152"/>
            <a:ext cx="340156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81728" y="254203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17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85232" y="25237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ATTACH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285232" y="288950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Source repos stay exactly where they 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84464" y="2359152"/>
            <a:ext cx="340156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85632" y="254203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17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89136" y="25237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GENERATE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089136" y="288950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Structured docs appear through a live session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" y="3877056"/>
            <a:ext cx="340156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" y="405993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17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PRESERVE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440740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Human notes survive regeneration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3877056"/>
            <a:ext cx="340156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D3C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81728" y="405993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17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85232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BROWSE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285232" y="440740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system is searchable locally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84464" y="3877056"/>
            <a:ext cx="3401568" cy="1152144"/>
          </a:xfrm>
          <a:prstGeom prst="roundRect">
            <a:avLst>
              <a:gd name="adj" fmla="val 6349"/>
            </a:avLst>
          </a:prstGeom>
          <a:solidFill>
            <a:srgbClr val="D7F3E7"/>
          </a:solidFill>
          <a:ln w="12700">
            <a:solidFill>
              <a:srgbClr val="62A8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85632" y="405993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089136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HISTORY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89136" y="440740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8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change remains ordinary Git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7607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1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outcome is not “documentation generated.”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742432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outcome is “understanding retained.”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C81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300000">
            <a:off x="-914400" y="3950208"/>
            <a:ext cx="3749040" cy="3749040"/>
          </a:xfrm>
          <a:prstGeom prst="arc">
            <a:avLst/>
          </a:prstGeom>
          <a:solidFill>
            <a:srgbClr val="0B0F0E">
              <a:alpha val="0"/>
            </a:srgbClr>
          </a:solidFill>
          <a:ln w="19050">
            <a:solidFill>
              <a:srgbClr val="89F5C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1792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65836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0B0F0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THESIS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426464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Systems forget.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7568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Git remembers.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8346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8DD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Akashic connects the two.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424928" y="1325880"/>
            <a:ext cx="4069080" cy="3200400"/>
          </a:xfrm>
          <a:prstGeom prst="roundRect">
            <a:avLst>
              <a:gd name="adj" fmla="val 3429"/>
            </a:avLst>
          </a:prstGeom>
          <a:solidFill>
            <a:srgbClr val="0A0D0C"/>
          </a:solidFill>
          <a:ln w="12700">
            <a:solidFill>
              <a:srgbClr val="3341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481328"/>
            <a:ext cx="91440" cy="91440"/>
          </a:xfrm>
          <a:prstGeom prst="ellipse">
            <a:avLst/>
          </a:prstGeom>
          <a:solidFill>
            <a:srgbClr val="FF7D68"/>
          </a:solidFill>
          <a:ln w="12700">
            <a:solidFill>
              <a:srgbClr val="FF7D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35824" y="1481328"/>
            <a:ext cx="91440" cy="91440"/>
          </a:xfrm>
          <a:prstGeom prst="ellipse">
            <a:avLst/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82128" y="1481328"/>
            <a:ext cx="91440" cy="91440"/>
          </a:xfrm>
          <a:prstGeom prst="ellipse">
            <a:avLst/>
          </a:prstGeom>
          <a:solidFill>
            <a:srgbClr val="89F5C4"/>
          </a:solidFill>
          <a:ln w="12700">
            <a:solidFill>
              <a:srgbClr val="89F5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24928" y="1737360"/>
            <a:ext cx="4069080" cy="0"/>
          </a:xfrm>
          <a:prstGeom prst="line">
            <a:avLst/>
          </a:prstGeom>
          <a:noFill/>
          <a:ln w="12700">
            <a:solidFill>
              <a:srgbClr val="27322D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7607808" y="189280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9F5C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›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08976" y="1892808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8B1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akashic init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607808" y="227685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9F5C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›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808976" y="2276856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8B1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akashic attach ../system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607808" y="266090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9F5C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›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808976" y="2660904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8B1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akashic generate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607808" y="304495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9F5C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›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808976" y="3044952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8B1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git diff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607808" y="34290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9F5C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›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808976" y="3429000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BF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akashic serve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" y="4800600"/>
            <a:ext cx="6035040" cy="0"/>
          </a:xfrm>
          <a:prstGeom prst="line">
            <a:avLst/>
          </a:prstGeom>
          <a:noFill/>
          <a:ln w="12700">
            <a:solidFill>
              <a:srgbClr val="2C3C35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676656" y="5047488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89F5C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LOCAL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048256" y="5047488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78DD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GIT-BACKED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904488" y="504748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7D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HUMAN-CONTROLLED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" y="59253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8FBF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akashic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818120" y="59253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A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Your systems, remembered.</a:t>
            </a:r>
            <a:endParaRPr lang="en-US" sz="140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Akashic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Akashic: Your systems, remembered</dc:title>
  <dc:subject>Akashic CLI product presentation</dc:subject>
  <dc:creator>Akashic</dc:creator>
  <cp:lastModifiedBy>Akashic</cp:lastModifiedBy>
  <cp:revision>1</cp:revision>
  <dcterms:created xsi:type="dcterms:W3CDTF">2026-07-14T08:40:27Z</dcterms:created>
  <dcterms:modified xsi:type="dcterms:W3CDTF">2026-07-14T08:40:27Z</dcterms:modified>
</cp:coreProperties>
</file>